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undeck" charset="1" panose="00000000000000000000"/>
      <p:regular r:id="rId16"/>
    </p:embeddedFon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6333" y="1773512"/>
            <a:ext cx="8526315" cy="275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5"/>
              </a:lnSpc>
            </a:pPr>
            <a:r>
              <a:rPr lang="en-US" sz="6599" spc="-356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MoodSense AI: </a:t>
            </a:r>
          </a:p>
          <a:p>
            <a:pPr algn="l" marL="0" indent="0" lvl="0">
              <a:lnSpc>
                <a:spcPts val="6665"/>
              </a:lnSpc>
            </a:pPr>
            <a:r>
              <a:rPr lang="en-US" sz="6599" spc="-356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Emotion &amp; Mood Analyzer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079917" y="4102331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6"/>
                </a:lnTo>
                <a:lnTo>
                  <a:pt x="0" y="973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06333" y="6741621"/>
            <a:ext cx="9195133" cy="775618"/>
            <a:chOff x="0" y="0"/>
            <a:chExt cx="12260177" cy="103415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008934" y="0"/>
              <a:ext cx="9251243" cy="1034157"/>
              <a:chOff x="0" y="0"/>
              <a:chExt cx="1544572" cy="17266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544572" cy="172661"/>
              </a:xfrm>
              <a:custGeom>
                <a:avLst/>
                <a:gdLst/>
                <a:ahLst/>
                <a:cxnLst/>
                <a:rect r="r" b="b" t="t" l="l"/>
                <a:pathLst>
                  <a:path h="172661" w="1544572">
                    <a:moveTo>
                      <a:pt x="86331" y="0"/>
                    </a:moveTo>
                    <a:lnTo>
                      <a:pt x="1458242" y="0"/>
                    </a:lnTo>
                    <a:cubicBezTo>
                      <a:pt x="1481138" y="0"/>
                      <a:pt x="1503097" y="9096"/>
                      <a:pt x="1519287" y="25286"/>
                    </a:cubicBezTo>
                    <a:cubicBezTo>
                      <a:pt x="1535477" y="41476"/>
                      <a:pt x="1544572" y="63434"/>
                      <a:pt x="1544572" y="86331"/>
                    </a:cubicBezTo>
                    <a:lnTo>
                      <a:pt x="1544572" y="86331"/>
                    </a:lnTo>
                    <a:cubicBezTo>
                      <a:pt x="1544572" y="134010"/>
                      <a:pt x="1505921" y="172661"/>
                      <a:pt x="1458242" y="172661"/>
                    </a:cubicBezTo>
                    <a:lnTo>
                      <a:pt x="86331" y="172661"/>
                    </a:lnTo>
                    <a:cubicBezTo>
                      <a:pt x="63434" y="172661"/>
                      <a:pt x="41476" y="163566"/>
                      <a:pt x="25286" y="147375"/>
                    </a:cubicBezTo>
                    <a:cubicBezTo>
                      <a:pt x="9096" y="131185"/>
                      <a:pt x="0" y="109227"/>
                      <a:pt x="0" y="86331"/>
                    </a:cubicBezTo>
                    <a:lnTo>
                      <a:pt x="0" y="86331"/>
                    </a:lnTo>
                    <a:cubicBezTo>
                      <a:pt x="0" y="63434"/>
                      <a:pt x="9096" y="41476"/>
                      <a:pt x="25286" y="25286"/>
                    </a:cubicBezTo>
                    <a:cubicBezTo>
                      <a:pt x="41476" y="9096"/>
                      <a:pt x="63434" y="0"/>
                      <a:pt x="863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28575"/>
                <a:ext cx="1544572" cy="144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6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SISH MOHAMMAD MOSNOBI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4450044" cy="1034157"/>
              <a:chOff x="0" y="0"/>
              <a:chExt cx="742972" cy="17266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2972" cy="172661"/>
              </a:xfrm>
              <a:custGeom>
                <a:avLst/>
                <a:gdLst/>
                <a:ahLst/>
                <a:cxnLst/>
                <a:rect r="r" b="b" t="t" l="l"/>
                <a:pathLst>
                  <a:path h="172661" w="742972">
                    <a:moveTo>
                      <a:pt x="86331" y="0"/>
                    </a:moveTo>
                    <a:lnTo>
                      <a:pt x="656641" y="0"/>
                    </a:lnTo>
                    <a:cubicBezTo>
                      <a:pt x="704320" y="0"/>
                      <a:pt x="742972" y="38652"/>
                      <a:pt x="742972" y="86331"/>
                    </a:cubicBezTo>
                    <a:lnTo>
                      <a:pt x="742972" y="86331"/>
                    </a:lnTo>
                    <a:cubicBezTo>
                      <a:pt x="742972" y="109227"/>
                      <a:pt x="733876" y="131185"/>
                      <a:pt x="717686" y="147375"/>
                    </a:cubicBezTo>
                    <a:cubicBezTo>
                      <a:pt x="701496" y="163566"/>
                      <a:pt x="679538" y="172661"/>
                      <a:pt x="656641" y="172661"/>
                    </a:cubicBezTo>
                    <a:lnTo>
                      <a:pt x="86331" y="172661"/>
                    </a:lnTo>
                    <a:cubicBezTo>
                      <a:pt x="63434" y="172661"/>
                      <a:pt x="41476" y="163566"/>
                      <a:pt x="25286" y="147375"/>
                    </a:cubicBezTo>
                    <a:cubicBezTo>
                      <a:pt x="9096" y="131185"/>
                      <a:pt x="0" y="109227"/>
                      <a:pt x="0" y="86331"/>
                    </a:cubicBezTo>
                    <a:lnTo>
                      <a:pt x="0" y="86331"/>
                    </a:lnTo>
                    <a:cubicBezTo>
                      <a:pt x="0" y="63434"/>
                      <a:pt x="9096" y="41476"/>
                      <a:pt x="25286" y="25286"/>
                    </a:cubicBezTo>
                    <a:cubicBezTo>
                      <a:pt x="41476" y="9096"/>
                      <a:pt x="63434" y="0"/>
                      <a:pt x="86331" y="0"/>
                    </a:cubicBezTo>
                    <a:close/>
                  </a:path>
                </a:pathLst>
              </a:custGeom>
              <a:solidFill>
                <a:srgbClr val="70F3C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742972" cy="144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6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55606" y="208728"/>
              <a:ext cx="3451992" cy="569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43"/>
                </a:lnSpc>
              </a:pPr>
              <a:r>
                <a:rPr lang="en-US" sz="2602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Presented By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6333" y="7826794"/>
            <a:ext cx="9195133" cy="775618"/>
            <a:chOff x="0" y="0"/>
            <a:chExt cx="12260177" cy="103415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244960" y="0"/>
              <a:ext cx="9015218" cy="1034157"/>
              <a:chOff x="0" y="0"/>
              <a:chExt cx="1505166" cy="17266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05166" cy="172661"/>
              </a:xfrm>
              <a:custGeom>
                <a:avLst/>
                <a:gdLst/>
                <a:ahLst/>
                <a:cxnLst/>
                <a:rect r="r" b="b" t="t" l="l"/>
                <a:pathLst>
                  <a:path h="172661" w="1505166">
                    <a:moveTo>
                      <a:pt x="86331" y="0"/>
                    </a:moveTo>
                    <a:lnTo>
                      <a:pt x="1418835" y="0"/>
                    </a:lnTo>
                    <a:cubicBezTo>
                      <a:pt x="1441731" y="0"/>
                      <a:pt x="1463690" y="9096"/>
                      <a:pt x="1479880" y="25286"/>
                    </a:cubicBezTo>
                    <a:cubicBezTo>
                      <a:pt x="1496070" y="41476"/>
                      <a:pt x="1505166" y="63434"/>
                      <a:pt x="1505166" y="86331"/>
                    </a:cubicBezTo>
                    <a:lnTo>
                      <a:pt x="1505166" y="86331"/>
                    </a:lnTo>
                    <a:cubicBezTo>
                      <a:pt x="1505166" y="134010"/>
                      <a:pt x="1466514" y="172661"/>
                      <a:pt x="1418835" y="172661"/>
                    </a:cubicBezTo>
                    <a:lnTo>
                      <a:pt x="86331" y="172661"/>
                    </a:lnTo>
                    <a:cubicBezTo>
                      <a:pt x="63434" y="172661"/>
                      <a:pt x="41476" y="163566"/>
                      <a:pt x="25286" y="147375"/>
                    </a:cubicBezTo>
                    <a:cubicBezTo>
                      <a:pt x="9096" y="131185"/>
                      <a:pt x="0" y="109227"/>
                      <a:pt x="0" y="86331"/>
                    </a:cubicBezTo>
                    <a:lnTo>
                      <a:pt x="0" y="86331"/>
                    </a:lnTo>
                    <a:cubicBezTo>
                      <a:pt x="0" y="63434"/>
                      <a:pt x="9096" y="41476"/>
                      <a:pt x="25286" y="25286"/>
                    </a:cubicBezTo>
                    <a:cubicBezTo>
                      <a:pt x="41476" y="9096"/>
                      <a:pt x="63434" y="0"/>
                      <a:pt x="863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1505166" cy="144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6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 98171124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4799113" cy="1034157"/>
              <a:chOff x="0" y="0"/>
              <a:chExt cx="801252" cy="17266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01252" cy="172661"/>
              </a:xfrm>
              <a:custGeom>
                <a:avLst/>
                <a:gdLst/>
                <a:ahLst/>
                <a:cxnLst/>
                <a:rect r="r" b="b" t="t" l="l"/>
                <a:pathLst>
                  <a:path h="172661" w="801252">
                    <a:moveTo>
                      <a:pt x="86331" y="0"/>
                    </a:moveTo>
                    <a:lnTo>
                      <a:pt x="714921" y="0"/>
                    </a:lnTo>
                    <a:cubicBezTo>
                      <a:pt x="737818" y="0"/>
                      <a:pt x="759776" y="9096"/>
                      <a:pt x="775966" y="25286"/>
                    </a:cubicBezTo>
                    <a:cubicBezTo>
                      <a:pt x="792156" y="41476"/>
                      <a:pt x="801252" y="63434"/>
                      <a:pt x="801252" y="86331"/>
                    </a:cubicBezTo>
                    <a:lnTo>
                      <a:pt x="801252" y="86331"/>
                    </a:lnTo>
                    <a:cubicBezTo>
                      <a:pt x="801252" y="134010"/>
                      <a:pt x="762600" y="172661"/>
                      <a:pt x="714921" y="172661"/>
                    </a:cubicBezTo>
                    <a:lnTo>
                      <a:pt x="86331" y="172661"/>
                    </a:lnTo>
                    <a:cubicBezTo>
                      <a:pt x="63434" y="172661"/>
                      <a:pt x="41476" y="163566"/>
                      <a:pt x="25286" y="147375"/>
                    </a:cubicBezTo>
                    <a:cubicBezTo>
                      <a:pt x="9096" y="131185"/>
                      <a:pt x="0" y="109227"/>
                      <a:pt x="0" y="86331"/>
                    </a:cubicBezTo>
                    <a:lnTo>
                      <a:pt x="0" y="86331"/>
                    </a:lnTo>
                    <a:cubicBezTo>
                      <a:pt x="0" y="63434"/>
                      <a:pt x="9096" y="41476"/>
                      <a:pt x="25286" y="25286"/>
                    </a:cubicBezTo>
                    <a:cubicBezTo>
                      <a:pt x="41476" y="9096"/>
                      <a:pt x="63434" y="0"/>
                      <a:pt x="86331" y="0"/>
                    </a:cubicBezTo>
                    <a:close/>
                  </a:path>
                </a:pathLst>
              </a:custGeom>
              <a:solidFill>
                <a:srgbClr val="70F3C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28575"/>
                <a:ext cx="801252" cy="144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99189" y="208728"/>
              <a:ext cx="3722772" cy="569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43"/>
                </a:lnSpc>
              </a:pPr>
              <a:r>
                <a:rPr lang="en-US" sz="2602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Student ID 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372850" y="1849712"/>
            <a:ext cx="5576645" cy="7198003"/>
          </a:xfrm>
          <a:custGeom>
            <a:avLst/>
            <a:gdLst/>
            <a:ahLst/>
            <a:cxnLst/>
            <a:rect r="r" b="b" t="t" l="l"/>
            <a:pathLst>
              <a:path h="7198003" w="5576645">
                <a:moveTo>
                  <a:pt x="0" y="0"/>
                </a:moveTo>
                <a:lnTo>
                  <a:pt x="5576645" y="0"/>
                </a:lnTo>
                <a:lnTo>
                  <a:pt x="5576645" y="7198003"/>
                </a:lnTo>
                <a:lnTo>
                  <a:pt x="0" y="7198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1061" y="7364396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7"/>
                </a:lnTo>
                <a:lnTo>
                  <a:pt x="0" y="973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966" y="1965800"/>
            <a:ext cx="8326734" cy="10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1"/>
              </a:lnSpc>
              <a:spcBef>
                <a:spcPct val="0"/>
              </a:spcBef>
            </a:pPr>
            <a:r>
              <a:rPr lang="en-US" sz="6399" spc="-345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Idea &amp;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3966" y="3480494"/>
            <a:ext cx="11641954" cy="468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b="true">
                <a:solidFill>
                  <a:srgbClr val="70F3C8">
                    <a:alpha val="69804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Understanding Human Emotions Using AI</a:t>
            </a:r>
          </a:p>
          <a:p>
            <a:pPr algn="l">
              <a:lnSpc>
                <a:spcPts val="3400"/>
              </a:lnSpc>
            </a:pP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Many systems cannot interpret human emoti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ons in real-time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Emotional awareness is important in: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Mental health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User experience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Smart applications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Vision: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Create an AI-powered system that detects emotions from faces using images or live webcam.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5089" y="4632004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7"/>
                </a:lnTo>
                <a:lnTo>
                  <a:pt x="0" y="973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29625" y="1713368"/>
            <a:ext cx="9973476" cy="188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1"/>
              </a:lnSpc>
            </a:pPr>
            <a:r>
              <a:rPr lang="en-US" sz="6399" spc="-345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Key Features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936281" y="4439579"/>
            <a:ext cx="10415438" cy="3337916"/>
            <a:chOff x="0" y="0"/>
            <a:chExt cx="13887251" cy="445055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63249" y="302980"/>
              <a:ext cx="13324002" cy="4147574"/>
              <a:chOff x="0" y="0"/>
              <a:chExt cx="2631902" cy="81927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631902" cy="819274"/>
              </a:xfrm>
              <a:custGeom>
                <a:avLst/>
                <a:gdLst/>
                <a:ahLst/>
                <a:cxnLst/>
                <a:rect r="r" b="b" t="t" l="l"/>
                <a:pathLst>
                  <a:path h="819274" w="2631902">
                    <a:moveTo>
                      <a:pt x="13945" y="0"/>
                    </a:moveTo>
                    <a:lnTo>
                      <a:pt x="2617956" y="0"/>
                    </a:lnTo>
                    <a:cubicBezTo>
                      <a:pt x="2625658" y="0"/>
                      <a:pt x="2631902" y="6243"/>
                      <a:pt x="2631902" y="13945"/>
                    </a:cubicBezTo>
                    <a:lnTo>
                      <a:pt x="2631902" y="805329"/>
                    </a:lnTo>
                    <a:cubicBezTo>
                      <a:pt x="2631902" y="809027"/>
                      <a:pt x="2630432" y="812574"/>
                      <a:pt x="2627817" y="815189"/>
                    </a:cubicBezTo>
                    <a:cubicBezTo>
                      <a:pt x="2625202" y="817805"/>
                      <a:pt x="2621655" y="819274"/>
                      <a:pt x="2617956" y="819274"/>
                    </a:cubicBezTo>
                    <a:lnTo>
                      <a:pt x="13945" y="819274"/>
                    </a:lnTo>
                    <a:cubicBezTo>
                      <a:pt x="10247" y="819274"/>
                      <a:pt x="6700" y="817805"/>
                      <a:pt x="4084" y="815189"/>
                    </a:cubicBezTo>
                    <a:cubicBezTo>
                      <a:pt x="1469" y="812574"/>
                      <a:pt x="0" y="809027"/>
                      <a:pt x="0" y="805329"/>
                    </a:cubicBezTo>
                    <a:lnTo>
                      <a:pt x="0" y="13945"/>
                    </a:lnTo>
                    <a:cubicBezTo>
                      <a:pt x="0" y="10247"/>
                      <a:pt x="1469" y="6700"/>
                      <a:pt x="4084" y="4084"/>
                    </a:cubicBezTo>
                    <a:cubicBezTo>
                      <a:pt x="6700" y="1469"/>
                      <a:pt x="10247" y="0"/>
                      <a:pt x="1394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28575"/>
                <a:ext cx="2631902" cy="7906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6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8679146" cy="909090"/>
              <a:chOff x="0" y="0"/>
              <a:chExt cx="1714399" cy="17957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14399" cy="179573"/>
              </a:xfrm>
              <a:custGeom>
                <a:avLst/>
                <a:gdLst/>
                <a:ahLst/>
                <a:cxnLst/>
                <a:rect r="r" b="b" t="t" l="l"/>
                <a:pathLst>
                  <a:path h="179573" w="1714399">
                    <a:moveTo>
                      <a:pt x="89787" y="0"/>
                    </a:moveTo>
                    <a:lnTo>
                      <a:pt x="1624613" y="0"/>
                    </a:lnTo>
                    <a:cubicBezTo>
                      <a:pt x="1648426" y="0"/>
                      <a:pt x="1671263" y="9460"/>
                      <a:pt x="1688101" y="26298"/>
                    </a:cubicBezTo>
                    <a:cubicBezTo>
                      <a:pt x="1704940" y="43136"/>
                      <a:pt x="1714399" y="65974"/>
                      <a:pt x="1714399" y="89787"/>
                    </a:cubicBezTo>
                    <a:lnTo>
                      <a:pt x="1714399" y="89787"/>
                    </a:lnTo>
                    <a:cubicBezTo>
                      <a:pt x="1714399" y="113600"/>
                      <a:pt x="1704940" y="136437"/>
                      <a:pt x="1688101" y="153275"/>
                    </a:cubicBezTo>
                    <a:cubicBezTo>
                      <a:pt x="1671263" y="170114"/>
                      <a:pt x="1648426" y="179573"/>
                      <a:pt x="1624613" y="179573"/>
                    </a:cubicBezTo>
                    <a:lnTo>
                      <a:pt x="89787" y="179573"/>
                    </a:lnTo>
                    <a:cubicBezTo>
                      <a:pt x="65974" y="179573"/>
                      <a:pt x="43136" y="170114"/>
                      <a:pt x="26298" y="153275"/>
                    </a:cubicBezTo>
                    <a:cubicBezTo>
                      <a:pt x="9460" y="136437"/>
                      <a:pt x="0" y="113600"/>
                      <a:pt x="0" y="89787"/>
                    </a:cubicBezTo>
                    <a:lnTo>
                      <a:pt x="0" y="89787"/>
                    </a:lnTo>
                    <a:cubicBezTo>
                      <a:pt x="0" y="65974"/>
                      <a:pt x="9460" y="43136"/>
                      <a:pt x="26298" y="26298"/>
                    </a:cubicBezTo>
                    <a:cubicBezTo>
                      <a:pt x="43136" y="9460"/>
                      <a:pt x="65974" y="0"/>
                      <a:pt x="89787" y="0"/>
                    </a:cubicBezTo>
                    <a:close/>
                  </a:path>
                </a:pathLst>
              </a:custGeom>
              <a:solidFill>
                <a:srgbClr val="70F3C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1714399" cy="1509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6"/>
                  </a:lnSpc>
                </a:pPr>
                <a:r>
                  <a:rPr lang="en-US" b="true" sz="2400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WHAT THIS SYSTEM CAN DO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53046" y="1095638"/>
              <a:ext cx="11949484" cy="3354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3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</a:t>
              </a:r>
              <a:r>
                <a:rPr lang="en-US" sz="2000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cure user login &amp; registration (JWT authentication) </a:t>
              </a:r>
            </a:p>
            <a:p>
              <a:pPr algn="l" marL="431801" indent="-215900" lvl="1">
                <a:lnSpc>
                  <a:spcPts val="3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Upload images or use live webcam </a:t>
              </a:r>
            </a:p>
            <a:p>
              <a:pPr algn="l" marL="431801" indent="-215900" lvl="1">
                <a:lnSpc>
                  <a:spcPts val="3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r>
                <a:rPr lang="en-US" sz="2000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etect 7 human emotions instantly </a:t>
              </a:r>
            </a:p>
            <a:p>
              <a:pPr algn="l" marL="431801" indent="-215900" lvl="1">
                <a:lnSpc>
                  <a:spcPts val="3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Store scan results in the database </a:t>
              </a:r>
            </a:p>
            <a:p>
              <a:pPr algn="l" marL="431801" indent="-215900" lvl="1">
                <a:lnSpc>
                  <a:spcPts val="3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strike="noStrike" u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View past emotion history </a:t>
              </a:r>
            </a:p>
            <a:p>
              <a:pPr algn="l" marL="0" indent="0" lvl="0">
                <a:lnSpc>
                  <a:spcPts val="34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1061" y="7364396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7"/>
                </a:lnTo>
                <a:lnTo>
                  <a:pt x="0" y="973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59427" y="4763744"/>
            <a:ext cx="8983469" cy="3773057"/>
          </a:xfrm>
          <a:custGeom>
            <a:avLst/>
            <a:gdLst/>
            <a:ahLst/>
            <a:cxnLst/>
            <a:rect r="r" b="b" t="t" l="l"/>
            <a:pathLst>
              <a:path h="3773057" w="8983469">
                <a:moveTo>
                  <a:pt x="0" y="0"/>
                </a:moveTo>
                <a:lnTo>
                  <a:pt x="8983469" y="0"/>
                </a:lnTo>
                <a:lnTo>
                  <a:pt x="8983469" y="3773057"/>
                </a:lnTo>
                <a:lnTo>
                  <a:pt x="0" y="377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3877" y="2003172"/>
            <a:ext cx="9713387" cy="10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1"/>
              </a:lnSpc>
              <a:spcBef>
                <a:spcPct val="0"/>
              </a:spcBef>
            </a:pPr>
            <a:r>
              <a:rPr lang="en-US" sz="6399" spc="-345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AI Emotion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3877" y="3273656"/>
            <a:ext cx="8204163" cy="639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0F3C8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Core Intelligence of the System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Internal fragmentation due to fixed partition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Uses face-api.js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Detects emotions: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Happy 😄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Sad 😢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Angry 😠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Fearful 😨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Disgusted 🤢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Surprised 😲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Neutral 😐 </a:t>
            </a:r>
          </a:p>
          <a:p>
            <a:pPr algn="l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⚙️ Process: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Detect face → Analyze expressions → Rank emotions → Show dominant mood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9917" y="4501099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6"/>
                </a:lnTo>
                <a:lnTo>
                  <a:pt x="0" y="973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83966" y="1467418"/>
            <a:ext cx="10799524" cy="210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7112" spc="-384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System Architecture</a:t>
            </a:r>
          </a:p>
          <a:p>
            <a:pPr algn="l" marL="0" indent="0" lvl="0">
              <a:lnSpc>
                <a:spcPts val="732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3966" y="2860675"/>
            <a:ext cx="11317848" cy="639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0F3C8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How the System Works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Frontend (React):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UI interaction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Webcam &amp; image upload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Backend (Node.js):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API handling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Authentication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Database: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Stores users &amp; scan history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Layer: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Runs emotion detection model </a:t>
            </a:r>
          </a:p>
          <a:p>
            <a:pPr algn="l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Flow:</a:t>
            </a:r>
          </a:p>
          <a:p>
            <a:pPr algn="l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User → React UI → API → AI Model → Database → Results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5089" y="5368390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6"/>
                </a:lnTo>
                <a:lnTo>
                  <a:pt x="0" y="973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15525" y="1442009"/>
            <a:ext cx="9234192" cy="118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6"/>
              </a:lnSpc>
            </a:pPr>
            <a:r>
              <a:rPr lang="en-US" sz="7112" spc="-384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Technical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8757" y="3273656"/>
            <a:ext cx="7707729" cy="468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70F3C8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Technologies Used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Frontend: React (fast UI, c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omponent-based)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Backend: Node.js + Express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Database: MongoDB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AI Engine: face-api.js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Auth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tica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tion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: JWT (secure login system)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70F3C8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Why this stack?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Fast development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Scalable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Real-time AI processing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9917" y="4501099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6"/>
                </a:lnTo>
                <a:lnTo>
                  <a:pt x="0" y="973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81942" y="2764881"/>
            <a:ext cx="8678877" cy="5836545"/>
          </a:xfrm>
          <a:custGeom>
            <a:avLst/>
            <a:gdLst/>
            <a:ahLst/>
            <a:cxnLst/>
            <a:rect r="r" b="b" t="t" l="l"/>
            <a:pathLst>
              <a:path h="5836545" w="8678877">
                <a:moveTo>
                  <a:pt x="0" y="0"/>
                </a:moveTo>
                <a:lnTo>
                  <a:pt x="8678877" y="0"/>
                </a:lnTo>
                <a:lnTo>
                  <a:pt x="8678877" y="5836545"/>
                </a:lnTo>
                <a:lnTo>
                  <a:pt x="0" y="5836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3966" y="1467418"/>
            <a:ext cx="9240525" cy="2106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26"/>
              </a:lnSpc>
              <a:spcBef>
                <a:spcPct val="0"/>
              </a:spcBef>
            </a:pPr>
            <a:r>
              <a:rPr lang="en-US" sz="7112" spc="-384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User Experience 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5205" y="3717925"/>
            <a:ext cx="6361033" cy="425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b="true" sz="2000">
                <a:solidFill>
                  <a:srgbClr val="70F3C8">
                    <a:alpha val="69804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2000" strike="noStrike" u="none">
                <a:solidFill>
                  <a:srgbClr val="70F3C8">
                    <a:alpha val="69804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ow Users Interact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Register / Login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Op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en 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on Detector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Choose: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Upload image OR </a:t>
            </a:r>
          </a:p>
          <a:p>
            <a:pPr algn="l" marL="863601" indent="-287867" lvl="2">
              <a:lnSpc>
                <a:spcPts val="3400"/>
              </a:lnSpc>
              <a:spcBef>
                <a:spcPct val="0"/>
              </a:spcBef>
              <a:buFont typeface="Arial"/>
              <a:buChar char="⚬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Use webcam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AI analyzes face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Results displayed instantly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ata saved to history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1424" y="5417422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6"/>
                </a:lnTo>
                <a:lnTo>
                  <a:pt x="0" y="973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64292" y="3792505"/>
            <a:ext cx="483115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70F3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Real Problems We Faced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7181" y="1270105"/>
            <a:ext cx="8358114" cy="212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5"/>
              </a:lnSpc>
            </a:pPr>
            <a:r>
              <a:rPr lang="en-US" sz="6399" spc="-345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Challenges &amp; Solutions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17027" y="4527200"/>
            <a:ext cx="8358114" cy="296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🔴 Ch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allenge 1: AI model loading delay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✅ Solut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ion: Preload models before detection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🔴 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Challenge 2: Face not detected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✅ Solution: User guidance (clear image, lighting)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🔴 Chall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enge 3: Secure authentication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✅ Solution: JWT token-based system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1424" y="5417422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6"/>
                </a:lnTo>
                <a:lnTo>
                  <a:pt x="0" y="9739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16391" y="4312171"/>
            <a:ext cx="483115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70F3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What Can Be Added Next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16391" y="1770393"/>
            <a:ext cx="8358114" cy="212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5"/>
              </a:lnSpc>
            </a:pPr>
            <a:r>
              <a:rPr lang="en-US" sz="6399" spc="-345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Future Improvements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16391" y="5322172"/>
            <a:ext cx="7171455" cy="25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Real-time emo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tion tracking graphs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Mobile app version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Voice + emotion combined analysis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Cloud deployment (AWS / Vercel) 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 strike="noStrike" u="none">
                <a:solidFill>
                  <a:srgbClr val="FFFFFF">
                    <a:alpha val="6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I accuracy improvements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017">
                <a:alpha val="100000"/>
              </a:srgbClr>
            </a:gs>
            <a:gs pos="100000">
              <a:srgbClr val="0041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5556" y="6822206"/>
            <a:ext cx="9739156" cy="9739156"/>
          </a:xfrm>
          <a:custGeom>
            <a:avLst/>
            <a:gdLst/>
            <a:ahLst/>
            <a:cxnLst/>
            <a:rect r="r" b="b" t="t" l="l"/>
            <a:pathLst>
              <a:path h="9739156" w="9739156">
                <a:moveTo>
                  <a:pt x="0" y="0"/>
                </a:moveTo>
                <a:lnTo>
                  <a:pt x="9739156" y="0"/>
                </a:lnTo>
                <a:lnTo>
                  <a:pt x="9739156" y="9739157"/>
                </a:lnTo>
                <a:lnTo>
                  <a:pt x="0" y="973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39541" y="-4082667"/>
            <a:ext cx="7451573" cy="7451573"/>
          </a:xfrm>
          <a:custGeom>
            <a:avLst/>
            <a:gdLst/>
            <a:ahLst/>
            <a:cxnLst/>
            <a:rect r="r" b="b" t="t" l="l"/>
            <a:pathLst>
              <a:path h="7451573" w="7451573">
                <a:moveTo>
                  <a:pt x="0" y="0"/>
                </a:moveTo>
                <a:lnTo>
                  <a:pt x="7451573" y="0"/>
                </a:lnTo>
                <a:lnTo>
                  <a:pt x="7451573" y="7451573"/>
                </a:lnTo>
                <a:lnTo>
                  <a:pt x="0" y="745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19719" y="3814806"/>
            <a:ext cx="14048563" cy="190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51"/>
              </a:lnSpc>
            </a:pPr>
            <a:r>
              <a:rPr lang="en-US" sz="11908" spc="-643">
                <a:solidFill>
                  <a:srgbClr val="FFFFFF"/>
                </a:solidFill>
                <a:latin typeface="Rundeck"/>
                <a:ea typeface="Rundeck"/>
                <a:cs typeface="Rundeck"/>
                <a:sym typeface="Runde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DAG6re5tImA</dc:identifier>
  <dcterms:modified xsi:type="dcterms:W3CDTF">2011-08-01T06:04:30Z</dcterms:modified>
  <cp:revision>1</cp:revision>
  <dc:title>Navy Cyan Modern Digital Marketing Presentation</dc:title>
</cp:coreProperties>
</file>